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B91A908-5528-0BB6-196C-F8E0C98FEF79}">
          <p14:sldIdLst>
            <p14:sldId id="256"/>
          </p14:sldIdLst>
        </p14:section>
        <p14:section name="Overview" id="{E63C5D99-27C3-2F9C-2814-D00540C4852F}">
          <p14:sldIdLst>
            <p14:sldId id="257"/>
            <p14:sldId id="258"/>
          </p14:sldIdLst>
        </p14:section>
        <p14:section name="Key changes" id="{2928643C-45C3-2EFF-9EDF-C7929034114A}">
          <p14:sldIdLst>
            <p14:sldId id="259"/>
            <p14:sldId id="260"/>
            <p14:sldId id="261"/>
            <p14:sldId id="262"/>
          </p14:sldIdLst>
        </p14:section>
        <p14:section name="New work" id="{7A091AD6-658C-EC62-96E7-C5CCC8806ECA}">
          <p14:sldIdLst>
            <p14:sldId id="263"/>
            <p14:sldId id="264"/>
          </p14:sldIdLst>
        </p14:section>
        <p14:section name="Close" id="{3F3DAC44-9FDF-40F7-4DA9-BF3A2F2D563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60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the repo as it stood after PR #6 (22 Sep, our first six files) with main today after PR #17.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count is all files including the 8 course helper prompts in downloads/.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H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LookaHome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kern="0" spc="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H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Shape 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4864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LookaHome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74320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chemeClr val="accent5"/>
                </a:solidFill>
              </a:rPr>
              <a:t>REPO REVIEW · 13 OCT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bg2"/>
                </a:solidFill>
              </a:rPr>
              <a:t>REPO REVIEW · RAPID PROTOTYPING WITH AI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changed in our GitHub repo</a:t>
            </a:r>
            <a:endParaRPr lang="en-US" sz="4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original files (22 Sep) against the current version (13 Oct), in one read.</a:t>
            </a:r>
            <a:endParaRPr lang="en-US" sz="1400" dirty="0"/>
          </a:p>
        </p:txBody>
      </p:sp>
      <p:sp>
        <p:nvSpPr>
          <p:cNvPr id="5" name="chip-before"/>
          <p:cNvSpPr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ip-before-text"/>
          <p:cNvSpPr txBox="1"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</a:rPr>
              <a:t>ORIGINAL · 22 SEP</a:t>
            </a:r>
            <a:endParaRPr lang="en-US" sz="800" dirty="0"/>
          </a:p>
        </p:txBody>
      </p:sp>
      <p:sp>
        <p:nvSpPr>
          <p:cNvPr id="7" name="chip-arrow"/>
          <p:cNvSpPr txBox="1"/>
          <p:nvPr/>
        </p:nvSpPr>
        <p:spPr>
          <a:xfrm>
            <a:off x="2148840" y="4251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chip-now"/>
          <p:cNvSpPr/>
          <p:nvPr/>
        </p:nvSpPr>
        <p:spPr>
          <a:xfrm>
            <a:off x="2560320" y="4251960"/>
            <a:ext cx="1554480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ip-now-text"/>
          <p:cNvSpPr txBox="1"/>
          <p:nvPr/>
        </p:nvSpPr>
        <p:spPr>
          <a:xfrm>
            <a:off x="256032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tx1"/>
                </a:solidFill>
              </a:rPr>
              <a:t>CURRENT · 13 OCT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AT A GLANCE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six notes to a full evidence log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1558042" y="141732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-num-0"/>
          <p:cNvSpPr txBox="1"/>
          <p:nvPr/>
        </p:nvSpPr>
        <p:spPr>
          <a:xfrm>
            <a:off x="1740922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42</a:t>
            </a:r>
            <a:endParaRPr lang="en-US" sz="2800" dirty="0"/>
          </a:p>
        </p:txBody>
      </p:sp>
      <p:sp>
        <p:nvSpPr>
          <p:cNvPr id="6" name="stat-label-0"/>
          <p:cNvSpPr txBox="1"/>
          <p:nvPr/>
        </p:nvSpPr>
        <p:spPr>
          <a:xfrm>
            <a:off x="1740922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files in the repo</a:t>
            </a:r>
            <a:endParaRPr lang="en-US" sz="1000" dirty="0"/>
          </a:p>
        </p:txBody>
      </p:sp>
      <p:sp>
        <p:nvSpPr>
          <p:cNvPr id="7" name="stat-card-1"/>
          <p:cNvSpPr/>
          <p:nvPr/>
        </p:nvSpPr>
        <p:spPr>
          <a:xfrm>
            <a:off x="3615442" y="141732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-num-1"/>
          <p:cNvSpPr txBox="1"/>
          <p:nvPr/>
        </p:nvSpPr>
        <p:spPr>
          <a:xfrm>
            <a:off x="3798322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280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5k</a:t>
            </a:r>
            <a:endParaRPr lang="en-US" sz="2800" dirty="0"/>
          </a:p>
        </p:txBody>
      </p:sp>
      <p:sp>
        <p:nvSpPr>
          <p:cNvPr id="9" name="stat-label-1"/>
          <p:cNvSpPr txBox="1"/>
          <p:nvPr/>
        </p:nvSpPr>
        <p:spPr>
          <a:xfrm>
            <a:off x="3798322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lines of content (approx.)</a:t>
            </a:r>
            <a:endParaRPr lang="en-US" sz="1000" dirty="0"/>
          </a:p>
        </p:txBody>
      </p:sp>
      <p:sp>
        <p:nvSpPr>
          <p:cNvPr id="10" name="stat-card-2"/>
          <p:cNvSpPr/>
          <p:nvPr/>
        </p:nvSpPr>
        <p:spPr>
          <a:xfrm>
            <a:off x="5672842" y="141732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-num-2"/>
          <p:cNvSpPr txBox="1"/>
          <p:nvPr/>
        </p:nvSpPr>
        <p:spPr>
          <a:xfrm>
            <a:off x="5855722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#6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#17</a:t>
            </a:r>
            <a:endParaRPr lang="en-US" sz="2800" dirty="0"/>
          </a:p>
        </p:txBody>
      </p:sp>
      <p:sp>
        <p:nvSpPr>
          <p:cNvPr id="12" name="stat-label-2"/>
          <p:cNvSpPr txBox="1"/>
          <p:nvPr/>
        </p:nvSpPr>
        <p:spPr>
          <a:xfrm>
            <a:off x="5855722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pull requests merged</a:t>
            </a:r>
            <a:endParaRPr lang="en-US" sz="1000" dirty="0"/>
          </a:p>
        </p:txBody>
      </p:sp>
      <p:sp>
        <p:nvSpPr>
          <p:cNvPr id="16" name="glance-note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 restructure into the course folders, then evidence, experiments and market research.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STRUCTURE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flat list became four folders</a:t>
            </a:r>
            <a:endParaRPr lang="en-US" sz="2800" dirty="0"/>
          </a:p>
        </p:txBody>
      </p:sp>
      <p:sp>
        <p:nvSpPr>
          <p:cNvPr id="4" name="before-card"/>
          <p:cNvSpPr/>
          <p:nvPr/>
        </p:nvSpPr>
        <p:spPr>
          <a:xfrm>
            <a:off x="548640" y="1463040"/>
            <a:ext cx="2926080" cy="2926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efore-label"/>
          <p:cNvSpPr txBox="1"/>
          <p:nvPr/>
        </p:nvSpPr>
        <p:spPr>
          <a:xfrm>
            <a:off x="7772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ORIGINAL · FLAT</a:t>
            </a:r>
            <a:endParaRPr lang="en-US" sz="800" dirty="0"/>
          </a:p>
        </p:txBody>
      </p:sp>
      <p:sp>
        <p:nvSpPr>
          <p:cNvPr id="6" name="before-files"/>
          <p:cNvSpPr txBox="1"/>
          <p:nvPr/>
        </p:nvSpPr>
        <p:spPr>
          <a:xfrm>
            <a:off x="777240" y="2011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README.md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opportunity.md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personas.md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goals.md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jtbd.md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websiteproto.md</a:t>
            </a:r>
            <a:endParaRPr lang="en-US" sz="1200" dirty="0"/>
          </a:p>
        </p:txBody>
      </p:sp>
      <p:sp>
        <p:nvSpPr>
          <p:cNvPr id="7" name="struct-arrow"/>
          <p:cNvSpPr txBox="1"/>
          <p:nvPr/>
        </p:nvSpPr>
        <p:spPr>
          <a:xfrm>
            <a:off x="3520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folder-card-0"/>
          <p:cNvSpPr/>
          <p:nvPr/>
        </p:nvSpPr>
        <p:spPr>
          <a:xfrm>
            <a:off x="4023360" y="1463040"/>
            <a:ext cx="4572000" cy="658368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lder-n-0"/>
          <p:cNvSpPr txBox="1"/>
          <p:nvPr/>
        </p:nvSpPr>
        <p:spPr>
          <a:xfrm>
            <a:off x="4160520" y="14630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</a:t>
            </a:r>
            <a:endParaRPr lang="en-US" sz="2000" dirty="0"/>
          </a:p>
        </p:txBody>
      </p:sp>
      <p:sp>
        <p:nvSpPr>
          <p:cNvPr id="10" name="folder-t-0"/>
          <p:cNvSpPr txBox="1"/>
          <p:nvPr/>
        </p:nvSpPr>
        <p:spPr>
          <a:xfrm>
            <a:off x="4754880" y="1517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evidence-log/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Opportunity, goals, JTBD, assumptions, experiments, ERRC, personas, venture skeleton</a:t>
            </a:r>
            <a:endParaRPr lang="en-US" sz="1100" dirty="0"/>
          </a:p>
        </p:txBody>
      </p:sp>
      <p:sp>
        <p:nvSpPr>
          <p:cNvPr id="11" name="folder-card-1"/>
          <p:cNvSpPr/>
          <p:nvPr/>
        </p:nvSpPr>
        <p:spPr>
          <a:xfrm>
            <a:off x="4023360" y="2212848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older-n-1"/>
          <p:cNvSpPr txBox="1"/>
          <p:nvPr/>
        </p:nvSpPr>
        <p:spPr>
          <a:xfrm>
            <a:off x="4160520" y="22128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13</a:t>
            </a:r>
            <a:endParaRPr lang="en-US" sz="2000" dirty="0"/>
          </a:p>
        </p:txBody>
      </p:sp>
      <p:sp>
        <p:nvSpPr>
          <p:cNvPr id="13" name="folder-t-1"/>
          <p:cNvSpPr txBox="1"/>
          <p:nvPr/>
        </p:nvSpPr>
        <p:spPr>
          <a:xfrm>
            <a:off x="4754880" y="2267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supporting/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Verification, competitors, market sizing, value curve, research tools, press release</a:t>
            </a:r>
            <a:endParaRPr lang="en-US" sz="1100" dirty="0"/>
          </a:p>
        </p:txBody>
      </p:sp>
      <p:sp>
        <p:nvSpPr>
          <p:cNvPr id="14" name="folder-card-2"/>
          <p:cNvSpPr/>
          <p:nvPr/>
        </p:nvSpPr>
        <p:spPr>
          <a:xfrm>
            <a:off x="4023360" y="2962656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older-n-2"/>
          <p:cNvSpPr txBox="1"/>
          <p:nvPr/>
        </p:nvSpPr>
        <p:spPr>
          <a:xfrm>
            <a:off x="4160520" y="29626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folder-t-2"/>
          <p:cNvSpPr txBox="1"/>
          <p:nvPr/>
        </p:nvSpPr>
        <p:spPr>
          <a:xfrm>
            <a:off x="4754880" y="3017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downloads/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Course helper prompts that set each file's format</a:t>
            </a:r>
            <a:endParaRPr lang="en-US" sz="1100" dirty="0"/>
          </a:p>
        </p:txBody>
      </p:sp>
      <p:sp>
        <p:nvSpPr>
          <p:cNvPr id="17" name="folder-card-3"/>
          <p:cNvSpPr/>
          <p:nvPr/>
        </p:nvSpPr>
        <p:spPr>
          <a:xfrm>
            <a:off x="4023360" y="3712464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older-n-3"/>
          <p:cNvSpPr txBox="1"/>
          <p:nvPr/>
        </p:nvSpPr>
        <p:spPr>
          <a:xfrm>
            <a:off x="4160520" y="37124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folder-t-3"/>
          <p:cNvSpPr txBox="1"/>
          <p:nvPr/>
        </p:nvSpPr>
        <p:spPr>
          <a:xfrm>
            <a:off x="4754880" y="37673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prototype/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Link to prototype v0 (Lovable)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BIGGEST DECISION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riskiest assumption changed</a:t>
            </a:r>
            <a:endParaRPr lang="en-US" sz="2800" dirty="0"/>
          </a:p>
        </p:txBody>
      </p:sp>
      <p:sp>
        <p:nvSpPr>
          <p:cNvPr id="4" name="risk-before"/>
          <p:cNvSpPr/>
          <p:nvPr/>
        </p:nvSpPr>
        <p:spPr>
          <a:xfrm>
            <a:off x="548640" y="1463040"/>
            <a:ext cx="3931920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isk-before-label"/>
          <p:cNvSpPr txBox="1"/>
          <p:nvPr/>
        </p:nvSpPr>
        <p:spPr>
          <a:xfrm>
            <a:off x="7772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BEFORE · SPRINT GOAL</a:t>
            </a:r>
            <a:endParaRPr lang="en-US" sz="800" dirty="0"/>
          </a:p>
        </p:txBody>
      </p:sp>
      <p:sp>
        <p:nvSpPr>
          <p:cNvPr id="6" name="risk-before-title"/>
          <p:cNvSpPr txBox="1"/>
          <p:nvPr/>
        </p:nvSpPr>
        <p:spPr>
          <a:xfrm>
            <a:off x="7772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Legal operability</a:t>
            </a:r>
            <a:endParaRPr lang="en-US" sz="2200" dirty="0"/>
          </a:p>
        </p:txBody>
      </p:sp>
      <p:sp>
        <p:nvSpPr>
          <p:cNvPr id="7" name="risk-before-body"/>
          <p:cNvSpPr txBox="1"/>
          <p:nvPr/>
        </p:nvSpPr>
        <p:spPr>
          <a:xfrm>
            <a:off x="77724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Prove the platform can operate under GDPR and Spanish data-protection law. Everything else waited on it.</a:t>
            </a:r>
            <a:endParaRPr lang="en-US" sz="1200" dirty="0"/>
          </a:p>
        </p:txBody>
      </p:sp>
      <p:sp>
        <p:nvSpPr>
          <p:cNvPr id="8" name="risk-after"/>
          <p:cNvSpPr/>
          <p:nvPr/>
        </p:nvSpPr>
        <p:spPr>
          <a:xfrm>
            <a:off x="4663440" y="1463040"/>
            <a:ext cx="3931920" cy="2331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isk-after-label"/>
          <p:cNvSpPr txBox="1"/>
          <p:nvPr/>
        </p:nvSpPr>
        <p:spPr>
          <a:xfrm>
            <a:off x="48920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tx1"/>
                </a:solidFill>
              </a:rPr>
              <a:t>NOW · SPRINT GOAL</a:t>
            </a:r>
            <a:endParaRPr lang="en-US" sz="800" dirty="0"/>
          </a:p>
        </p:txBody>
      </p:sp>
      <p:sp>
        <p:nvSpPr>
          <p:cNvPr id="10" name="risk-after-title"/>
          <p:cNvSpPr txBox="1"/>
          <p:nvPr/>
        </p:nvSpPr>
        <p:spPr>
          <a:xfrm>
            <a:off x="48920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Discovery value</a:t>
            </a:r>
            <a:endParaRPr lang="en-US" sz="2200" dirty="0"/>
          </a:p>
        </p:txBody>
      </p:sp>
      <p:sp>
        <p:nvSpPr>
          <p:cNvPr id="11" name="risk-after-body"/>
          <p:cNvSpPr txBox="1"/>
          <p:nvPr/>
        </p:nvSpPr>
        <p:spPr>
          <a:xfrm>
            <a:off x="489204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Prove that searching across sources surfaces materially more matching, available listings than a student finds alone on Idealista.</a:t>
            </a:r>
            <a:endParaRPr lang="en-US" sz="1200" dirty="0"/>
          </a:p>
        </p:txBody>
      </p:sp>
      <p:sp>
        <p:nvSpPr>
          <p:cNvPr id="12" name="risk-why"/>
          <p:cNvSpPr txBox="1"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Why: </a:t>
            </a:r>
            <a:r>
              <a:rPr lang="en-US" sz="1100" dirty="0">
                <a:solidFill>
                  <a:schemeClr val="bg2"/>
                </a:solidFill>
              </a:rPr>
              <a:t>if most matching homes are already on Idealista, the idea collapses. Legal is cheap to answer with one expert review, so it now runs in parallel as a blocking roadblock, alongside landlords responding.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PROBLEM FRAMING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 is now “arrive already settled”</a:t>
            </a:r>
            <a:endParaRPr lang="en-US" sz="2800" dirty="0"/>
          </a:p>
        </p:txBody>
      </p:sp>
      <p:sp>
        <p:nvSpPr>
          <p:cNvPr id="4" name="hmw-card-0"/>
          <p:cNvSpPr/>
          <p:nvPr/>
        </p:nvSpPr>
        <p:spPr>
          <a:xfrm>
            <a:off x="548640" y="1463040"/>
            <a:ext cx="8046720" cy="105156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mw-label-0"/>
          <p:cNvSpPr txBox="1"/>
          <p:nvPr/>
        </p:nvSpPr>
        <p:spPr>
          <a:xfrm>
            <a:off x="77724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ORIGINAL HOW MIGHT WE</a:t>
            </a:r>
            <a:endParaRPr lang="en-US" sz="800" dirty="0"/>
          </a:p>
        </p:txBody>
      </p:sp>
      <p:sp>
        <p:nvSpPr>
          <p:cNvPr id="6" name="hmw-text-0"/>
          <p:cNvSpPr txBox="1"/>
          <p:nvPr/>
        </p:nvSpPr>
        <p:spPr>
          <a:xfrm>
            <a:off x="777240" y="1874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How might we consolidate fragmented housing options so international students can make confident decisions quickly and reduce the mental burden of the search?</a:t>
            </a:r>
            <a:endParaRPr lang="en-US" sz="1200" dirty="0"/>
          </a:p>
        </p:txBody>
      </p:sp>
      <p:sp>
        <p:nvSpPr>
          <p:cNvPr id="7" name="hmw-card-1"/>
          <p:cNvSpPr/>
          <p:nvPr/>
        </p:nvSpPr>
        <p:spPr>
          <a:xfrm>
            <a:off x="548640" y="2651760"/>
            <a:ext cx="8046720" cy="10515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mw-label-1"/>
          <p:cNvSpPr txBox="1"/>
          <p:nvPr/>
        </p:nvSpPr>
        <p:spPr>
          <a:xfrm>
            <a:off x="777240" y="2807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1"/>
                </a:solidFill>
              </a:rPr>
              <a:t>CURRENT HOW MIGHT WE</a:t>
            </a:r>
            <a:endParaRPr lang="en-US" sz="800" dirty="0"/>
          </a:p>
        </p:txBody>
      </p:sp>
      <p:sp>
        <p:nvSpPr>
          <p:cNvPr id="9" name="hmw-text-1"/>
          <p:cNvSpPr txBox="1"/>
          <p:nvPr/>
        </p:nvSpPr>
        <p:spPr>
          <a:xfrm>
            <a:off x="777240" y="3063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How might we make housing discovery simple enough that students secure a verified place matching their criteria before they arrive, so they start university already settled?</a:t>
            </a:r>
            <a:endParaRPr lang="en-US" sz="1200" dirty="0"/>
          </a:p>
        </p:txBody>
      </p:sp>
      <p:sp>
        <p:nvSpPr>
          <p:cNvPr id="10" name="shift-0"/>
          <p:cNvSpPr txBox="1"/>
          <p:nvPr/>
        </p:nvSpPr>
        <p:spPr>
          <a:xfrm>
            <a:off x="54864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Verification is now core: levels 0–4, scam red flags</a:t>
            </a:r>
            <a:endParaRPr lang="en-US" sz="1400" dirty="0"/>
          </a:p>
        </p:txBody>
      </p:sp>
      <p:sp>
        <p:nvSpPr>
          <p:cNvPr id="11" name="shift-1"/>
          <p:cNvSpPr txBox="1"/>
          <p:nvPr/>
        </p:nvSpPr>
        <p:spPr>
          <a:xfrm>
            <a:off x="3264408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Success = a signed lease before arrival, not listings browsed</a:t>
            </a:r>
            <a:endParaRPr lang="en-US" sz="1400" dirty="0"/>
          </a:p>
        </p:txBody>
      </p:sp>
      <p:sp>
        <p:nvSpPr>
          <p:cNvPr id="12" name="shift-2"/>
          <p:cNvSpPr txBox="1"/>
          <p:nvPr/>
        </p:nvSpPr>
        <p:spPr>
          <a:xfrm>
            <a:off x="5980176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New pain point to check: NIE, guarantor, deposit (hypothesis)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MARKET SIZING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market number was corrected</a:t>
            </a:r>
            <a:endParaRPr lang="en-US" sz="2800" dirty="0"/>
          </a:p>
        </p:txBody>
      </p:sp>
      <p:sp>
        <p:nvSpPr>
          <p:cNvPr id="4" name="mkt-before"/>
          <p:cNvSpPr/>
          <p:nvPr/>
        </p:nvSpPr>
        <p:spPr>
          <a:xfrm>
            <a:off x="548640" y="1463040"/>
            <a:ext cx="3931920" cy="2468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kt-before-label"/>
          <p:cNvSpPr txBox="1"/>
          <p:nvPr/>
        </p:nvSpPr>
        <p:spPr>
          <a:xfrm>
            <a:off x="7772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BEFORE · UNSOURCED</a:t>
            </a:r>
            <a:endParaRPr lang="en-US" sz="800" dirty="0"/>
          </a:p>
        </p:txBody>
      </p:sp>
      <p:sp>
        <p:nvSpPr>
          <p:cNvPr id="6" name="mkt-before-num"/>
          <p:cNvSpPr txBox="1"/>
          <p:nvPr/>
        </p:nvSpPr>
        <p:spPr>
          <a:xfrm>
            <a:off x="77724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trike="sngStrike" dirty="0">
                <a:solidFill>
                  <a:schemeClr val="accent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~12,ooo</a:t>
            </a:r>
            <a:endParaRPr lang="en-US" sz="4400" dirty="0"/>
          </a:p>
        </p:txBody>
      </p:sp>
      <p:sp>
        <p:nvSpPr>
          <p:cNvPr id="7" name="mkt-before-body"/>
          <p:cNvSpPr txBox="1"/>
          <p:nvPr/>
        </p:nvSpPr>
        <p:spPr>
          <a:xfrm>
            <a:off x="77724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“Target students” at IE. No source could be found; Ministry data shows 2,139 new bachelor's students in total for 2024-25.</a:t>
            </a:r>
            <a:endParaRPr lang="en-US" sz="1100" dirty="0"/>
          </a:p>
        </p:txBody>
      </p:sp>
      <p:sp>
        <p:nvSpPr>
          <p:cNvPr id="8" name="mkt-after"/>
          <p:cNvSpPr/>
          <p:nvPr/>
        </p:nvSpPr>
        <p:spPr>
          <a:xfrm>
            <a:off x="4663440" y="1463040"/>
            <a:ext cx="3931920" cy="2468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kt-after-label"/>
          <p:cNvSpPr txBox="1"/>
          <p:nvPr/>
        </p:nvSpPr>
        <p:spPr>
          <a:xfrm>
            <a:off x="489204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1"/>
                </a:solidFill>
              </a:rPr>
              <a:t>NOW · BBA OFFICE/STUDENT SERVICES 2024-25</a:t>
            </a:r>
            <a:endParaRPr lang="en-US" sz="800" dirty="0"/>
          </a:p>
        </p:txBody>
      </p:sp>
      <p:sp>
        <p:nvSpPr>
          <p:cNvPr id="10" name="mkt-after-num"/>
          <p:cNvSpPr txBox="1"/>
          <p:nvPr/>
        </p:nvSpPr>
        <p:spPr>
          <a:xfrm>
            <a:off x="489204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4400" b="1" dirty="0">
                <a:solidFill>
                  <a:schemeClr val="bg1"/>
                </a:solidFill>
                <a:latin typeface="Playfair Display" pitchFamily="34" charset="0"/>
              </a:rPr>
              <a:t>2</a:t>
            </a:r>
            <a:r>
              <a:rPr lang="en-US" sz="4400" b="1" dirty="0">
                <a:solidFill>
                  <a:schemeClr val="bg1"/>
                </a:solidFill>
                <a:latin typeface="Playfair Display" pitchFamily="34" charset="0"/>
              </a:rPr>
              <a:t>,300</a:t>
            </a:r>
            <a:endParaRPr lang="en-US" sz="4400" dirty="0"/>
          </a:p>
        </p:txBody>
      </p:sp>
      <p:sp>
        <p:nvSpPr>
          <p:cNvPr id="11" name="mkt-after-body"/>
          <p:cNvSpPr txBox="1"/>
          <p:nvPr/>
        </p:nvSpPr>
        <p:spPr>
          <a:xfrm>
            <a:off x="489204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New foreign bachelor's students a year at IE, both campuses. Provisional ~2000-2,300 on the Madrid campus.</a:t>
            </a:r>
            <a:endParaRPr lang="en-US" sz="1100" dirty="0"/>
          </a:p>
        </p:txBody>
      </p:sp>
      <p:sp>
        <p:nvSpPr>
          <p:cNvPr id="12" name="mkt-open"/>
          <p:cNvSpPr txBox="1"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Still open: </a:t>
            </a:r>
            <a:r>
              <a:rPr lang="en-US" sz="1100" dirty="0">
                <a:solidFill>
                  <a:schemeClr val="bg2"/>
                </a:solidFill>
              </a:rPr>
              <a:t>master's intake and how many need a private rental, so no market size is quoted yet.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PERSONAS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personas became six drafts, three picks</a:t>
            </a:r>
            <a:endParaRPr lang="en-US" sz="2800" dirty="0"/>
          </a:p>
        </p:txBody>
      </p:sp>
      <p:sp>
        <p:nvSpPr>
          <p:cNvPr id="4" name="persona-card-0"/>
          <p:cNvSpPr/>
          <p:nvPr/>
        </p:nvSpPr>
        <p:spPr>
          <a:xfrm>
            <a:off x="548640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ersona-n-0"/>
          <p:cNvSpPr txBox="1"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persona-t-0"/>
          <p:cNvSpPr txBox="1"/>
          <p:nvPr/>
        </p:nvSpPr>
        <p:spPr>
          <a:xfrm>
            <a:off x="7315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Deadline Panic Settler</a:t>
            </a:r>
            <a:endParaRPr lang="en-US" sz="1400" dirty="0"/>
          </a:p>
        </p:txBody>
      </p:sp>
      <p:sp>
        <p:nvSpPr>
          <p:cNvPr id="7" name="persona-d-0"/>
          <p:cNvSpPr txBox="1"/>
          <p:nvPr/>
        </p:nvSpPr>
        <p:spPr>
          <a:xfrm>
            <a:off x="73152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Primary user. €600–900, basic Spanish, starts late and settles for worse.</a:t>
            </a:r>
            <a:endParaRPr lang="en-US" sz="1000" dirty="0"/>
          </a:p>
        </p:txBody>
      </p:sp>
      <p:sp>
        <p:nvSpPr>
          <p:cNvPr id="8" name="persona-card-1"/>
          <p:cNvSpPr/>
          <p:nvPr/>
        </p:nvSpPr>
        <p:spPr>
          <a:xfrm>
            <a:off x="3264408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ersona-n-1"/>
          <p:cNvSpPr txBox="1"/>
          <p:nvPr/>
        </p:nvSpPr>
        <p:spPr>
          <a:xfrm>
            <a:off x="3447288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persona-t-1"/>
          <p:cNvSpPr txBox="1"/>
          <p:nvPr/>
        </p:nvSpPr>
        <p:spPr>
          <a:xfrm>
            <a:off x="3447288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Prepared Insider</a:t>
            </a:r>
            <a:endParaRPr lang="en-US" sz="1400" dirty="0"/>
          </a:p>
        </p:txBody>
      </p:sp>
      <p:sp>
        <p:nvSpPr>
          <p:cNvPr id="11" name="persona-d-1"/>
          <p:cNvSpPr txBox="1"/>
          <p:nvPr/>
        </p:nvSpPr>
        <p:spPr>
          <a:xfrm>
            <a:off x="3447288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High budget, fluent, mentored. Possible premium or early adopter (n=1).</a:t>
            </a:r>
            <a:endParaRPr lang="en-US" sz="1000" dirty="0"/>
          </a:p>
        </p:txBody>
      </p:sp>
      <p:sp>
        <p:nvSpPr>
          <p:cNvPr id="12" name="persona-card-2"/>
          <p:cNvSpPr/>
          <p:nvPr/>
        </p:nvSpPr>
        <p:spPr>
          <a:xfrm>
            <a:off x="5980176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ersona-n-2"/>
          <p:cNvSpPr txBox="1"/>
          <p:nvPr/>
        </p:nvSpPr>
        <p:spPr>
          <a:xfrm>
            <a:off x="6163056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persona-t-2"/>
          <p:cNvSpPr txBox="1"/>
          <p:nvPr/>
        </p:nvSpPr>
        <p:spPr>
          <a:xfrm>
            <a:off x="6163056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Small Landlord or Agency</a:t>
            </a:r>
            <a:endParaRPr lang="en-US" sz="1400" dirty="0"/>
          </a:p>
        </p:txBody>
      </p:sp>
      <p:sp>
        <p:nvSpPr>
          <p:cNvPr id="15" name="persona-d-2"/>
          <p:cNvSpPr txBox="1"/>
          <p:nvPr/>
        </p:nvSpPr>
        <p:spPr>
          <a:xfrm>
            <a:off x="6163056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New supply side. Decides which student enquiries get answered.</a:t>
            </a:r>
            <a:endParaRPr lang="en-US" sz="1000" dirty="0"/>
          </a:p>
        </p:txBody>
      </p:sp>
      <p:sp>
        <p:nvSpPr>
          <p:cNvPr id="16" name="persona-drafts-label"/>
          <p:cNvSpPr txBox="1"/>
          <p:nvPr/>
        </p:nvSpPr>
        <p:spPr>
          <a:xfrm>
            <a:off x="5486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DRAFTS NOT SELECTED</a:t>
            </a:r>
            <a:endParaRPr lang="en-US" sz="800" dirty="0"/>
          </a:p>
        </p:txBody>
      </p:sp>
      <p:sp>
        <p:nvSpPr>
          <p:cNvPr id="17" name="persona-drafts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Paying Guarantor Parent  ·  One-Year Master's Student  ·  One-Semester Exchange Student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ADDED SINCE THE ORIGINAL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files that did not exist before</a:t>
            </a:r>
            <a:endParaRPr lang="en-US" sz="2800" dirty="0"/>
          </a:p>
        </p:txBody>
      </p:sp>
      <p:sp>
        <p:nvSpPr>
          <p:cNvPr id="4" name="tile-0"/>
          <p:cNvSpPr/>
          <p:nvPr/>
        </p:nvSpPr>
        <p:spPr>
          <a:xfrm>
            <a:off x="54864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le-t-0"/>
          <p:cNvSpPr txBox="1"/>
          <p:nvPr/>
        </p:nvSpPr>
        <p:spPr>
          <a:xfrm>
            <a:off x="6858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Experiment cards</a:t>
            </a:r>
            <a:endParaRPr lang="en-US" sz="1300" dirty="0"/>
          </a:p>
        </p:txBody>
      </p:sp>
      <p:sp>
        <p:nvSpPr>
          <p:cNvPr id="6" name="tile-d-0"/>
          <p:cNvSpPr txBox="1"/>
          <p:nvPr/>
        </p:nvSpPr>
        <p:spPr>
          <a:xfrm>
            <a:off x="68580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Three tests with metrics, thresholds and decision rules</a:t>
            </a:r>
            <a:endParaRPr lang="en-US" sz="900" dirty="0"/>
          </a:p>
        </p:txBody>
      </p:sp>
      <p:sp>
        <p:nvSpPr>
          <p:cNvPr id="7" name="tile-1"/>
          <p:cNvSpPr/>
          <p:nvPr/>
        </p:nvSpPr>
        <p:spPr>
          <a:xfrm>
            <a:off x="258318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le-t-1"/>
          <p:cNvSpPr txBox="1"/>
          <p:nvPr/>
        </p:nvSpPr>
        <p:spPr>
          <a:xfrm>
            <a:off x="27203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ERRC + value curve</a:t>
            </a:r>
            <a:endParaRPr lang="en-US" sz="1300" dirty="0"/>
          </a:p>
        </p:txBody>
      </p:sp>
      <p:sp>
        <p:nvSpPr>
          <p:cNvPr id="9" name="tile-d-1"/>
          <p:cNvSpPr txBox="1"/>
          <p:nvPr/>
        </p:nvSpPr>
        <p:spPr>
          <a:xfrm>
            <a:off x="272034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Eliminate tenant fees, reduce listings, raise checks, create arrival-dated search</a:t>
            </a:r>
            <a:endParaRPr lang="en-US" sz="900" dirty="0"/>
          </a:p>
        </p:txBody>
      </p:sp>
      <p:sp>
        <p:nvSpPr>
          <p:cNvPr id="10" name="tile-2"/>
          <p:cNvSpPr/>
          <p:nvPr/>
        </p:nvSpPr>
        <p:spPr>
          <a:xfrm>
            <a:off x="461772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le-t-2"/>
          <p:cNvSpPr txBox="1"/>
          <p:nvPr/>
        </p:nvSpPr>
        <p:spPr>
          <a:xfrm>
            <a:off x="47548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12" name="tile-d-2"/>
          <p:cNvSpPr txBox="1"/>
          <p:nvPr/>
        </p:nvSpPr>
        <p:spPr>
          <a:xfrm>
            <a:off x="475488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Ten options from official sources: portals, booking sites, residences, AI</a:t>
            </a:r>
            <a:endParaRPr lang="en-US" sz="900" dirty="0"/>
          </a:p>
        </p:txBody>
      </p:sp>
      <p:sp>
        <p:nvSpPr>
          <p:cNvPr id="13" name="tile-3"/>
          <p:cNvSpPr/>
          <p:nvPr/>
        </p:nvSpPr>
        <p:spPr>
          <a:xfrm>
            <a:off x="665226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le-t-3"/>
          <p:cNvSpPr txBox="1"/>
          <p:nvPr/>
        </p:nvSpPr>
        <p:spPr>
          <a:xfrm>
            <a:off x="67894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ile-d-3"/>
          <p:cNvSpPr txBox="1"/>
          <p:nvPr/>
        </p:nvSpPr>
        <p:spPr>
          <a:xfrm>
            <a:off x="678942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Five levels, from Unverified to Viewed, plus scam red flags</a:t>
            </a:r>
            <a:endParaRPr lang="en-US" sz="900" dirty="0"/>
          </a:p>
        </p:txBody>
      </p:sp>
      <p:sp>
        <p:nvSpPr>
          <p:cNvPr id="16" name="tile-4"/>
          <p:cNvSpPr/>
          <p:nvPr/>
        </p:nvSpPr>
        <p:spPr>
          <a:xfrm>
            <a:off x="54864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ile-t-4"/>
          <p:cNvSpPr txBox="1"/>
          <p:nvPr/>
        </p:nvSpPr>
        <p:spPr>
          <a:xfrm>
            <a:off x="6858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Venture Skeleton v0.1</a:t>
            </a:r>
            <a:endParaRPr lang="en-US" sz="1300" dirty="0"/>
          </a:p>
        </p:txBody>
      </p:sp>
      <p:sp>
        <p:nvSpPr>
          <p:cNvPr id="18" name="tile-d-4"/>
          <p:cNvSpPr txBox="1"/>
          <p:nvPr/>
        </p:nvSpPr>
        <p:spPr>
          <a:xfrm>
            <a:off x="68580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One page from customer to stop criteria, each linked to evidence</a:t>
            </a:r>
            <a:endParaRPr lang="en-US" sz="900" dirty="0"/>
          </a:p>
        </p:txBody>
      </p:sp>
      <p:sp>
        <p:nvSpPr>
          <p:cNvPr id="19" name="tile-5"/>
          <p:cNvSpPr/>
          <p:nvPr/>
        </p:nvSpPr>
        <p:spPr>
          <a:xfrm>
            <a:off x="258318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le-t-5"/>
          <p:cNvSpPr txBox="1"/>
          <p:nvPr/>
        </p:nvSpPr>
        <p:spPr>
          <a:xfrm>
            <a:off x="27203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Press release</a:t>
            </a:r>
            <a:endParaRPr lang="en-US" sz="1300" dirty="0"/>
          </a:p>
        </p:txBody>
      </p:sp>
      <p:sp>
        <p:nvSpPr>
          <p:cNvPr id="21" name="tile-d-5"/>
          <p:cNvSpPr txBox="1"/>
          <p:nvPr/>
        </p:nvSpPr>
        <p:spPr>
          <a:xfrm>
            <a:off x="272034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Hypothetical Sept 2027 launch: arrive already settled</a:t>
            </a:r>
            <a:endParaRPr lang="en-US" sz="900" dirty="0"/>
          </a:p>
        </p:txBody>
      </p:sp>
      <p:sp>
        <p:nvSpPr>
          <p:cNvPr id="22" name="tile-6"/>
          <p:cNvSpPr/>
          <p:nvPr/>
        </p:nvSpPr>
        <p:spPr>
          <a:xfrm>
            <a:off x="461772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ile-t-6"/>
          <p:cNvSpPr txBox="1"/>
          <p:nvPr/>
        </p:nvSpPr>
        <p:spPr>
          <a:xfrm>
            <a:off x="47548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tools</a:t>
            </a:r>
            <a:endParaRPr lang="en-US" sz="1300" dirty="0"/>
          </a:p>
        </p:txBody>
      </p:sp>
      <p:sp>
        <p:nvSpPr>
          <p:cNvPr id="24" name="tile-d-6"/>
          <p:cNvSpPr txBox="1"/>
          <p:nvPr/>
        </p:nvSpPr>
        <p:spPr>
          <a:xfrm>
            <a:off x="475488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Supply-audit CSV, student survey, landlord guide, legal brief</a:t>
            </a:r>
            <a:endParaRPr lang="en-US" sz="900" dirty="0"/>
          </a:p>
        </p:txBody>
      </p:sp>
      <p:sp>
        <p:nvSpPr>
          <p:cNvPr id="25" name="tile-7"/>
          <p:cNvSpPr/>
          <p:nvPr/>
        </p:nvSpPr>
        <p:spPr>
          <a:xfrm>
            <a:off x="665226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ile-t-7"/>
          <p:cNvSpPr txBox="1"/>
          <p:nvPr/>
        </p:nvSpPr>
        <p:spPr>
          <a:xfrm>
            <a:off x="67894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usage log</a:t>
            </a:r>
            <a:endParaRPr lang="en-US" sz="1300" dirty="0"/>
          </a:p>
        </p:txBody>
      </p:sp>
      <p:sp>
        <p:nvSpPr>
          <p:cNvPr id="27" name="tile-d-7"/>
          <p:cNvSpPr txBox="1"/>
          <p:nvPr/>
        </p:nvSpPr>
        <p:spPr>
          <a:xfrm>
            <a:off x="678942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Every AI tool used and what the team accepted or changed</a:t>
            </a:r>
            <a:endParaRPr lang="en-US" sz="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TEST PLAN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experiments, run in order</a:t>
            </a:r>
            <a:endParaRPr lang="en-US" sz="2800" dirty="0"/>
          </a:p>
        </p:txBody>
      </p:sp>
      <p:sp>
        <p:nvSpPr>
          <p:cNvPr id="4" name="exp-card-0"/>
          <p:cNvSpPr/>
          <p:nvPr/>
        </p:nvSpPr>
        <p:spPr>
          <a:xfrm>
            <a:off x="548640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xp-label-0"/>
          <p:cNvSpPr txBox="1"/>
          <p:nvPr/>
        </p:nvSpPr>
        <p:spPr>
          <a:xfrm>
            <a:off x="73152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1</a:t>
            </a:r>
            <a:endParaRPr lang="en-US" sz="800" dirty="0"/>
          </a:p>
        </p:txBody>
      </p:sp>
      <p:sp>
        <p:nvSpPr>
          <p:cNvPr id="6" name="exp-t-0"/>
          <p:cNvSpPr txBox="1"/>
          <p:nvPr/>
        </p:nvSpPr>
        <p:spPr>
          <a:xfrm>
            <a:off x="73152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Supply audit</a:t>
            </a:r>
            <a:endParaRPr lang="en-US" sz="1500" dirty="0"/>
          </a:p>
        </p:txBody>
      </p:sp>
      <p:sp>
        <p:nvSpPr>
          <p:cNvPr id="7" name="exp-n-0"/>
          <p:cNvSpPr txBox="1"/>
          <p:nvPr/>
        </p:nvSpPr>
        <p:spPr>
          <a:xfrm>
            <a:off x="73152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≥30%</a:t>
            </a:r>
            <a:endParaRPr lang="en-US" sz="3200" dirty="0"/>
          </a:p>
        </p:txBody>
      </p:sp>
      <p:sp>
        <p:nvSpPr>
          <p:cNvPr id="8" name="exp-d-0"/>
          <p:cNvSpPr txBox="1"/>
          <p:nvPr/>
        </p:nvSpPr>
        <p:spPr>
          <a:xfrm>
            <a:off x="731520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matching, available listings are found only off Idealista</a:t>
            </a:r>
            <a:endParaRPr lang="en-US" sz="1000" dirty="0"/>
          </a:p>
        </p:txBody>
      </p:sp>
      <p:sp>
        <p:nvSpPr>
          <p:cNvPr id="9" name="exp-card-1"/>
          <p:cNvSpPr/>
          <p:nvPr/>
        </p:nvSpPr>
        <p:spPr>
          <a:xfrm>
            <a:off x="3264408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xp-label-1"/>
          <p:cNvSpPr txBox="1"/>
          <p:nvPr/>
        </p:nvSpPr>
        <p:spPr>
          <a:xfrm>
            <a:off x="3447288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2</a:t>
            </a:r>
            <a:endParaRPr lang="en-US" sz="800" dirty="0"/>
          </a:p>
        </p:txBody>
      </p:sp>
      <p:sp>
        <p:nvSpPr>
          <p:cNvPr id="11" name="exp-t-1"/>
          <p:cNvSpPr txBox="1"/>
          <p:nvPr/>
        </p:nvSpPr>
        <p:spPr>
          <a:xfrm>
            <a:off x="3447288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Concierge pilot</a:t>
            </a:r>
            <a:endParaRPr lang="en-US" sz="1500" dirty="0"/>
          </a:p>
        </p:txBody>
      </p:sp>
      <p:sp>
        <p:nvSpPr>
          <p:cNvPr id="12" name="exp-n-1"/>
          <p:cNvSpPr txBox="1"/>
          <p:nvPr/>
        </p:nvSpPr>
        <p:spPr>
          <a:xfrm>
            <a:off x="3447288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≥60%</a:t>
            </a:r>
            <a:endParaRPr lang="en-US" sz="3200" dirty="0"/>
          </a:p>
        </p:txBody>
      </p:sp>
      <p:sp>
        <p:nvSpPr>
          <p:cNvPr id="13" name="exp-d-1"/>
          <p:cNvSpPr txBox="1"/>
          <p:nvPr/>
        </p:nvSpPr>
        <p:spPr>
          <a:xfrm>
            <a:off x="3447288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5–10 students sign a place meeting every must-have 21+ days before arrival</a:t>
            </a:r>
            <a:endParaRPr lang="en-US" sz="1000" dirty="0"/>
          </a:p>
        </p:txBody>
      </p:sp>
      <p:sp>
        <p:nvSpPr>
          <p:cNvPr id="14" name="exp-card-2"/>
          <p:cNvSpPr/>
          <p:nvPr/>
        </p:nvSpPr>
        <p:spPr>
          <a:xfrm>
            <a:off x="5980176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xp-label-2"/>
          <p:cNvSpPr txBox="1"/>
          <p:nvPr/>
        </p:nvSpPr>
        <p:spPr>
          <a:xfrm>
            <a:off x="6163056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3</a:t>
            </a:r>
            <a:endParaRPr lang="en-US" sz="800" dirty="0"/>
          </a:p>
        </p:txBody>
      </p:sp>
      <p:sp>
        <p:nvSpPr>
          <p:cNvPr id="16" name="exp-t-2"/>
          <p:cNvSpPr txBox="1"/>
          <p:nvPr/>
        </p:nvSpPr>
        <p:spPr>
          <a:xfrm>
            <a:off x="6163056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Landlord response</a:t>
            </a:r>
            <a:endParaRPr lang="en-US" sz="1500" dirty="0"/>
          </a:p>
        </p:txBody>
      </p:sp>
      <p:sp>
        <p:nvSpPr>
          <p:cNvPr id="17" name="exp-n-2"/>
          <p:cNvSpPr txBox="1"/>
          <p:nvPr/>
        </p:nvSpPr>
        <p:spPr>
          <a:xfrm>
            <a:off x="6163056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≥50%</a:t>
            </a:r>
            <a:endParaRPr lang="en-US" sz="3200" dirty="0"/>
          </a:p>
        </p:txBody>
      </p:sp>
      <p:sp>
        <p:nvSpPr>
          <p:cNvPr id="18" name="exp-d-2"/>
          <p:cNvSpPr txBox="1"/>
          <p:nvPr/>
        </p:nvSpPr>
        <p:spPr>
          <a:xfrm>
            <a:off x="6163056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enquiries answered within 48 hours</a:t>
            </a:r>
            <a:endParaRPr lang="en-US" sz="1000" dirty="0"/>
          </a:p>
        </p:txBody>
      </p:sp>
      <p:sp>
        <p:nvSpPr>
          <p:cNvPr id="19" name="exp-note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 parallel: </a:t>
            </a:r>
            <a:r>
              <a:rPr lang="en-US" sz="1100" dirty="0">
                <a:solidFill>
                  <a:schemeClr val="bg2"/>
                </a:solidFill>
              </a:rPr>
              <a:t>legal review (GDPR, listing access, Ley 12/2023). No card has run yet and all thresholds are proposals awaiting team agreement.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WHERE WE STAND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stayed the same, and what is still open</a:t>
            </a:r>
            <a:endParaRPr lang="en-US" sz="2800" dirty="0"/>
          </a:p>
        </p:txBody>
      </p:sp>
      <p:sp>
        <p:nvSpPr>
          <p:cNvPr id="4" name="same-card"/>
          <p:cNvSpPr/>
          <p:nvPr/>
        </p:nvSpPr>
        <p:spPr>
          <a:xfrm>
            <a:off x="548640" y="1463040"/>
            <a:ext cx="2743200" cy="27432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ame-label"/>
          <p:cNvSpPr txBox="1"/>
          <p:nvPr/>
        </p:nvSpPr>
        <p:spPr>
          <a:xfrm>
            <a:off x="7772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UNCHANGED</a:t>
            </a:r>
            <a:endParaRPr lang="en-US" sz="800" dirty="0"/>
          </a:p>
        </p:txBody>
      </p:sp>
      <p:sp>
        <p:nvSpPr>
          <p:cNvPr id="6" name="same-list"/>
          <p:cNvSpPr txBox="1"/>
          <p:nvPr/>
        </p:nvSpPr>
        <p:spPr>
          <a:xfrm>
            <a:off x="777240" y="19659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Job to Be Done: identical, only moved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The five long-term business goals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15 student interviews as the evidence base</a:t>
            </a:r>
            <a:endParaRPr lang="en-US" sz="1100" dirty="0"/>
          </a:p>
        </p:txBody>
      </p:sp>
      <p:sp>
        <p:nvSpPr>
          <p:cNvPr id="7" name="open-card"/>
          <p:cNvSpPr/>
          <p:nvPr/>
        </p:nvSpPr>
        <p:spPr>
          <a:xfrm>
            <a:off x="3474720" y="1463040"/>
            <a:ext cx="5120640" cy="2743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en-label"/>
          <p:cNvSpPr txBox="1"/>
          <p:nvPr/>
        </p:nvSpPr>
        <p:spPr>
          <a:xfrm>
            <a:off x="370332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tx1"/>
                </a:solidFill>
              </a:rPr>
              <a:t>OPEN BEFORE WE TEST</a:t>
            </a:r>
            <a:endParaRPr lang="en-US" sz="800" dirty="0"/>
          </a:p>
        </p:txBody>
      </p:sp>
      <p:sp>
        <p:nvSpPr>
          <p:cNvPr id="9" name="open-list"/>
          <p:cNvSpPr txBox="1"/>
          <p:nvPr/>
        </p:nvSpPr>
        <p:spPr>
          <a:xfrm>
            <a:off x="3703320" y="19659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Agree thresholds, dates and owners for Cards 1–3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Trace the 15 interviews to notes or transcripts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Prototype link in the repo still points to the old ie-pad-finder site, not LookaHome; its listing pages show “Page not found”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Decide revenue model: “no student fee” (ERRC) conflicts with “students will pay”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Check interviews for the NIE, guarantor and deposit pain 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okaHome">
  <a:themeElements>
    <a:clrScheme name="LookaHome">
      <a:dk1>
        <a:srgbClr val="0A0A0A"/>
      </a:dk1>
      <a:lt1>
        <a:srgbClr val="FAFAFA"/>
      </a:lt1>
      <a:dk2>
        <a:srgbClr val="161616"/>
      </a:dk2>
      <a:lt2>
        <a:srgbClr val="A3A3A3"/>
      </a:lt2>
      <a:accent1>
        <a:srgbClr val="FAFAFA"/>
      </a:accent1>
      <a:accent2>
        <a:srgbClr val="A3A3A3"/>
      </a:accent2>
      <a:accent3>
        <a:srgbClr val="2E2E2E"/>
      </a:accent3>
      <a:accent4>
        <a:srgbClr val="1C1C1C"/>
      </a:accent4>
      <a:accent5>
        <a:srgbClr val="737373"/>
      </a:accent5>
      <a:accent6>
        <a:srgbClr val="D4D4D4"/>
      </a:accent6>
      <a:hlink>
        <a:srgbClr val="FAFAFA"/>
      </a:hlink>
      <a:folHlink>
        <a:srgbClr val="A3A3A3"/>
      </a:folHlink>
    </a:clrScheme>
    <a:fontScheme name="LookaHom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930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Manrope</vt:lpstr>
      <vt:lpstr>Playfair Display</vt:lpstr>
      <vt:lpstr>LookaHome</vt:lpstr>
      <vt:lpstr>What changed in our GitHub repo</vt:lpstr>
      <vt:lpstr>From six notes to a full evidence log</vt:lpstr>
      <vt:lpstr>A flat list became four folders</vt:lpstr>
      <vt:lpstr>The riskiest assumption changed</vt:lpstr>
      <vt:lpstr>The problem is now “arrive already settled”</vt:lpstr>
      <vt:lpstr>The market number was corrected</vt:lpstr>
      <vt:lpstr>Two personas became six drafts, three picks</vt:lpstr>
      <vt:lpstr>New files that did not exist before</vt:lpstr>
      <vt:lpstr>Three experiments, run in order</vt:lpstr>
      <vt:lpstr>What stayed the same, and what is still open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LookaHome repo: what changed</dc:title>
  <dc:subject>PptxGenJS Presentation</dc:subject>
  <dc:creator>Francisco Guimarães</dc:creator>
  <cp:lastModifiedBy>Francisco Mieiro</cp:lastModifiedBy>
  <cp:revision>2</cp:revision>
  <dcterms:created xsi:type="dcterms:W3CDTF">2026-10-13T07:12:29Z</dcterms:created>
  <dcterms:modified xsi:type="dcterms:W3CDTF">2026-10-13T08:25:40Z</dcterms:modified>
</cp:coreProperties>
</file>